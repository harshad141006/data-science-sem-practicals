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" cy="2926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DATA SCIENCE SKILL-BASED ASSESSMENT | CH15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Road Safety Insight</a:t>
            </a:r>
          </a:p>
          <a:p>
            <a:pPr>
              <a:spcAft>
                <a:spcPts val="2400"/>
              </a:spcAft>
              <a:defRPr sz="1800">
                <a:solidFill>
                  <a:srgbClr val="94A3B8"/>
                </a:solidFill>
              </a:defRPr>
            </a:pPr>
            <a:r>
              <a:t>Understand Accidents • Discover Risk Patterns • Support Safer Roads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Executive Briefing: Multi-Source Data Quality Audit, Empirical EDA, ML Severity Prediction &amp; Decision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Notice: All records reflect computer-generated educational synthetic data. Location names and numbers are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PHASE 1 &amp; PHASE 2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 Ingestion, Quality Assessment &amp; Cleaning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Planted Quality Issues Detected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Raw Ingestion: 6,040 accident records; 6,000 records each in roads, weather, traffic, and vehicles.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40 Duplicate Incidents: Placed in accidents.csv; deduplicated to 6,000 unique incident IDs.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24 Invalid Severities: Unknown (8), Critical (6), 0 (5), 5 (5); excluded from modeling.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115 Inconsistent Road Types: Case and whitespace variations standardized into 5 classes.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18 Speed Limit Outliers: Negative (-20..-1) and extreme values (&gt;200 km/h) imputed by road-type median.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300 Blank Weather Rows: Mode imputation for conditions, median for rainfall and visibility.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24 Traffic Volume Outliers: Imputed via road-type and peak-flag grouped medians.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7472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087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Integration &amp; Cleaning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Common Key: incident_id validated across all 5 tables (100% key intersection).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1-to-1 Cardinality: Verified join integrity; zero unintended row multiplication or cartesian join expansion.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Final Clean Cohort: Exactly 5,976 validated, integrated incidents preserved.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149 Missing Locations: Categorized explicitly as 'Unknown Location' to preserve valid accident records.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Temporal Feature Engineering: Derived hour, day of week, month, peak flag, and weekend indicators.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Audit Trail: Full reconciliation exported to data_quality_report.csv and Excel audit 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5087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Cleaned Cohort Profile (N = 5,976)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Minor Severity: 4,100 incidents (68.61% baseline share).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Serious Severity: 1,645 incidents (27.53% baseline share).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Fatal Severity: 231 incidents (3.87% critical minority).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Severe Cohort (Serious + Fatal): 1,876 incidents (31.39%).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Road Types: Urban Arterial (26.6%), Collector (21.9%), Service (19.9%), Highway Link (17.6%), Residential (14.4%).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Weather Conditions: Clear (50.8%), Cloudy (24.9%), Light Rain (14.1%), Fog (5.4%), Heavy Rain (5.2%).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Primary Vehicles: Cars (39.9%), Motorcycles (26.9%), Auto-rickshaws (9.7%), Trucks (8.1%).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PHASE 3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Corridor Hotspot Analysis &amp; Severity Concentration</a:t>
            </a:r>
          </a:p>
        </p:txBody>
      </p:sp>
      <p:pic>
        <p:nvPicPr>
          <p:cNvPr id="4" name="Picture 3" descr="02_top_accident_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80" y="150876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Spatial Hotspot Insights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Volume Leader: Central Market Junction recorded the highest overall accident volume (445 incidents; 147 severe crashes).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Fatal Corridor Leader: East Lake Road recorded the highest fatal crash count across all corridors (24 fatal-severity crashes, 7.50% fatal crash share across 320 crashes).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Secondary Lethality Corridors: Outer Loop - Sector A exhibited 19 fatal crashes (6.93%), and School Zone Avenue recorded 17 fatal crashes (5.57%).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Lowest Incident Site: Hillview Street recorded the fewest incidents (153 total) and lowest severe share (24.8%).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Key Policy Takeaway: High crash frequency does NOT equal highest fatal crash share. Municipal road safety teams must deploy dual-track interventions: congestion calming at high-volume sites and physical crash cushions at high-severity corridors. (Distinguish observed counts from exposure-adjusted risk).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PHASE 3 EMPIRICAL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Multi-Dimensional Risk Factors: Time, Weather &amp;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Temporal &amp; Weather Risk Patterns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Rush-Hour Spikes: Accidents peak sharply during morning (08:00, 547 incidents) and evening (18:00, 608 incidents) commutes.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Peak Congestion Share: Designated peak hours account for 3,624 incidents (60.6% of all recorded accidents).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Night Fatal Crash Share: Night hours (21:00-04:59) represent only 9.6% of volume (573 crashes) but exhibit the HIGHEST fatal crash share at 4.71%, nearly double the Afternoon share (2.70%).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Fog Multiplier Effect: Dense Fog (323 incidents) escalates fatal crash share to 8.10% and combined severe crash share to 45.48% (vs 28.6% under Clear skies).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Precipitation Impact: Light Rain elevated severe crash share to 39.31%, highlighting slick surface risks.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Infrastructure &amp; Road User Vulnerabilities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Highway Link Hazard: Highway Links exhibited a 6.03% fatal crash share, more than 2.2x higher than Collector Roads (2.68%).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Speed Limit Association: Fatal crashes occurred on road segments with a mean nominal speed limit of 48.4 km/h, compared to 44.3 km/h for minor crashes.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Junction Geometries: Flyovers and Midblock segments recorded the highest fatal crash shares (5.03% and 4.88%), whereas Roundabouts had the lowest (2.47%).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Vulnerable Road Users: Motorcycles recorded 5.06% fatal and 30.65% serious injury shares (35.71% total severe), highest among motorized transport.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Passenger Cars: Recorded the lowest fatal crash share among motorized vehicles at 3.48% (71.8% minor).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PHASE 5 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Supervised Machine Learning Model &amp; Evaluation</a:t>
            </a:r>
          </a:p>
        </p:txBody>
      </p:sp>
      <p:pic>
        <p:nvPicPr>
          <p:cNvPr id="4" name="Picture 3" descr="13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572000" cy="391885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1371600"/>
            <a:ext cx="594360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087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Model Methodology, Metrics &amp; Limitations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Pipeline Architecture: Scikit-learn Pipeline with ColumnTransformer (imputation + scaling + OneHotEncoder) and RandomForestClassifier (150 trees, max_depth=10).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Leakage Prevention: Preprocessor fitted strictly on training partition (4,780 rows). Evaluated on untouched 20% stratified test set (1,196 rows).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Overall Accuracy: 63.38% on untouched holdout test data.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Macro F1-Score: 0.3670 | Weighted F1-Score: 0.6027.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Class-Wise Performance: Minor (F1: 0.76, Recall: 83.0%), Serious (F1: 0.28, Recall: 22.8%), Fatal (F1: 0.06, Recall: 4.3%).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Severe Class Imbalance: Extreme rarity of Fatal crashes (3.9%) and Serious injuries (27.5%) causes lower minority recall; balanced class weights prevented majority-class collapse.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Feature Association: Visibility, traffic volume, and speed limit are top associative features. These describe model correlations, NOT physical crash causality.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PHASE 8 DECISION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Strategic Safety Recommendations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Targeted Action Recommendations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1. Corridor-Specific Engineering Audits: Conduct urgent geometric and barrier safety audits along East Lake Road and Outer Loop Sector A to address high fatal crash counts.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2. Night-Time Speed Enforcement: Deploy automated radar speed enforcement and upgrade retroreflective street lighting between 21:00 and 04:00 to address the elevated 4.71% night fatal crash share.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3. Dynamic Weather Warning Systems: Install Variable Message Signs (VMS) on Highway Links and Flyovers to enforce dynamic speed reductions during Fog and heavy rain.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4. Dedicated Two-Wheeler Corridors: Implement physical barrier separation and motorcycle-safe crash barriers along Urban Arterials and collector links.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5. Congestion Management at Market Sites: Optimize traffic signal phases and pedestrian grade separation at Central Market Junction to suppress collision frequency.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Implementation Roadmap &amp; Limitations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Phase 1 (Months 1-3): Rapid deployment of high-visibility enforcement and fog warning signage at top 5 severe corridors.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Phase 2 (Months 4-6): Midblock junction redesign, flyover barrier reinforcement, and streetlight retrofitting.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Phase 3 (Months 7-12): Integration of continuous sensor feeds into the deployed Streamlit Intelligence Platform for real-time risk scoring.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Critical Analytical Limitation: The synthetic dataset lacks exposure denominators (vehicle-km travelled, total traffic volumes for non-accident periods).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Exposure Caution: Reported metrics represent incident proportions, not per-exposure accident probabilities. Future phases must incorporate telematics exposure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